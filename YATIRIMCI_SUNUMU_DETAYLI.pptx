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🎨 GÖRSEL DÖNÜŞTÜRÜCÜ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F2937"/>
                </a:solidFill>
              </a:defRPr>
            </a:pPr>
            <a:r>
              <a:t>Yatırımcı Sunumu - Detaylı Analiz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Nisan 2026 • Türkiye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📋 İÇİNDEKİLER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BÖLÜM 1: ÜRÜN ÖZELLİKLERİ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Teknik özellikler ve yetenekler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Kullanılan teknolojiler ve diller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Sistem mimarisi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BÖLÜM 2: PAZAR ANALİZİ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öncesi/sonrası pazar durumu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Büyüme trendleri ve projeksiyonlar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BÖLÜM 3: RAKİP ANALİZİ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iLovePDF / iLoveIMG detaylı analiz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 detaylı analiz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Adobe Photoshop detaylı analiz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 detaylı analiz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BÖLÜM 4: KALİTE KARŞILAŞTIRMASI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kalite testleri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Hız performansı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BÖLÜM 5: GELECEKVİZYONU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Roadmap ve planlanan özellikler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ÜRÜN ÖZELLİKLERİ VE TEKNİK DETAYLAR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1.1 - FORMAT DÖNÜŞTÜRME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Desteklenen Formatlar: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GİRDİ FORMATLARI: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JPEG/JPG - En yaygın fotoğraf formatı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PNG - Şeffaflık desteği, kayıpsız sıkıştırma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WebP - Google'ın modern formatı, %30 daha küçük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AVIF - Yeni nesil, %50 daha küçük dosya boyutu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TIFF - Profesyonel baskı, CMYK desteği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BMP - Windows bitmap, ham görüntü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GIF - Animasyon desteği (tek frame çıkarma)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ÇIKTI FORMATLARI: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Tüm giriş formatlarına dönüşüm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Çapraz dönüşüm: PNG→WebP, JPEG→AVIF, vb.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Metadata koruması: EXIF, IPTC, XMP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ICC color profile desteği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1.2 - AKILLI SIKIŞTIRMA SİSTEMİ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Binary Search Algoritması: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ÇALIŞMA PRENSİBİ: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1. Kullanıcı hedef boyut belirler (örn: 500 KB)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2. Sistem kalite aralığını belirler (min: 1, max: 100)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3. Binary search ile optimal kaliteyi bulur: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İlk deneme: kalite 50 → dosya boyutu kontrolü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Çok büyükse: kalite 25 dene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Çok küçükse: kalite 75 dene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10 iterasyonda hedef boyuta ulaşır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AVANTAJLAR: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±5 KB hassasiyetle hedef boyuta ulaşma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Manuel deneme yanılma gerektirmez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Maksimum kalite korunur</a:t>
            </a:r>
          </a:p>
          <a:p>
            <a:pPr lvl="1">
              <a:defRPr sz="1600" b="1">
                <a:solidFill>
                  <a:srgbClr val="EF4444"/>
                </a:solidFill>
              </a:defRPr>
            </a:pPr>
            <a:r>
              <a:t>• Rakiplerde bu özellik YOK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1.3 - PROFESYONEL RENK UZAYI (CMYK)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ICC Profil Tabanlı Dönüşüm: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CMYK → RGB DÖNÜŞÜMÜ: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Kaynak: ISOcoated_v2_eci.icc (Avrupa matbaa standardı)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Hedef: sRGB-IEC61966-2.1.icc (Ekran standardı)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ImageMagick ile profesyonel dönüşüm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Renk doğruluğu %99+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RGB → CMYK DÖNÜŞÜMÜ: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Baskı hazırlığı için kritik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Out-of-gamut renk uyarısı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TIFF/JPEG çıktı formatında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KULLANIM ALANLARI: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Matbaa hazırlığı (broşür, katalog, afiş)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Profesyonel fotoğrafçılık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Grafik tasarım ajansları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Kurumsal marka materyali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1.4 - FİLİGRAN (WATERMARK) SİSTEMİ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Gelişmiş Watermark Özellikleri: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KONUMLANDIRMA: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9 hazır pozisyon (köşeler, kenarlar, merkez)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Özel koordinat belirleme (piksel bazlı)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Otomatik hizalama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ÖZELLEŞTİRME: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Opacity/Şeffaflık: %0-100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Font boyutu: 10-1000 piksel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Renk seçimi: RGB/HEX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Gölge efekti (shadow)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Tile pattern (tekrarlama)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WATERMARK TİPLERİ: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Metin watermark (© 2026, marka adı)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Logo watermark (PNG overlay)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QR kod watermark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1.5 - TOPLU İŞLEM (BATCH PROCESSING)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Ölçeklenebilir İşleme Sistemi: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KAPASİTE: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Ücretsiz: 10 dosya/hafta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Premium: 100+ dosya/işlem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Kurumsal: Sınırsız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TEKNİK ALT YAPI: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Bull Queue sistemi (Node.js)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Redis ile job management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Paralel işleme: 4 worker simultane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Progress tracking (real-time)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Hata yönetimi: Başarısız dosyaları tekrar işle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KULLANICI DENEYİMİ: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Drag &amp; drop ile toplu yükleme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Tek ayar seti → tüm dosyalara uygula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İlerleme çubuğu (15/100 tamamlandı)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ZIP arşiv indirme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1.6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KULLANILAN TEKNOLOJİLER VE DİLLER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TEKNOLOJİ STACK -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Frontend Teknolojileri: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REACT 18.2.0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UI/UX framework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Component-based architecture, virtual DOM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Hooks: useState, useEffect, custom hooks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TAILWIND CSS 3.4.1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Styling framework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Utility-first, responsive, hızlı geliştirme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Custom theme: Dark mode desteği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ELECTRON 28.1.3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Desktop app wrapper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Cross-platform (Windows, Mac, Linux)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Chromium + Node.js entegrasyonu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FRAMER MOTION 10.18.0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Animasyonlar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Fade in/out, slide, scale transitions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TEKNOLOJİ STACK -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Backend &amp; İşleme Teknolojileri: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NODE.JS + EXPRESS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REST API server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Asenkron I/O, hızlı, ölçeklenebilir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Middleware: CORS, rate limiting, file upload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 (C++ Libvips)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Core image processing engine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En hızlı JavaScript image library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Performans: 5-10x daha hızlı (vs Jimp, Canvas)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Özellikler: Resize, format convert, metadata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IMAGEMAGICK 7.1+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CMYK color space conversion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ICC profile desteği, profesyonel kalite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CLI integration ile Node.js'ten çağırma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BULL + REDIS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Job queue management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Asenkron işleme, retry logic, priority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TEKNOLOJİ STACK - VERİTABANI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Veritabanı ve Kimlik Doğrulama: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SUPABASE (PostgreSQL)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User database, auth, file storage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Open source Firebase alternative, SQL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Özellikler: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Row Level Security (RLS)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Real-time subscriptions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Auto-generated REST API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DEXIE (IndexedDB)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Offline data storage (desktop app)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Browser database, sync olmadan çalışma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 alanı: Conversion history, settings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ZUSTAND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Global state management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Redux'tan daha basit, performanslı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Store'lar: appStore, authStore, fileStore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TEKNOLOJİ STACK - ÖDEME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Ödeme Sistemi ve Deployment: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STRIPE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Payment processing, subscriptions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Özellikler: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Regional pricing (TRY, EUR, USD)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Automatic billing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Webhook integration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PCI-DSS compliant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HETZNER VPS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Backend API hosting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Specs: 16GB RAM, 4 vCPU, 160GB SSD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Maliyet: $44/ay (AWS'nin 1/3'ü)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CLOUDFLARE CDN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Kullanım: CDN, DDoS protection, SSL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 Ücretsiz, global edge network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Özellikler: Auto minify, cache, firewall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1.7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SİSTEM MİMARİSİ VE ÇALIŞMA PRENSİBİ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SİSTEM ARŞİTEKTÜRÜ - DESKTOP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Desktop Uygulaması Akış Diyagramı: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 DOSYA YÜKLEME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Kullanıcı dosya seçer (drag &amp; drop / browse)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React FileUploadZone component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File validation: Format, boyut kontrolü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Zustand store'a ekleme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2. PARAMETRE AYARLARI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ConversionPanel: Format, kalite, hedef boyut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Watermark ayarları (opsiyonel)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Renk uzayı dönüşümü (opsiyonel)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3. İŞLEME (YEREL - ELECTRON MAIN PROCESS)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IPC call: Renderer → Main process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Sharp pipeline oluştur: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Dosya okuma (sequentialRead)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Metadata extraction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CMYK kontrolü → ImageMagick gerekirse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Resize/Crop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Watermark overlay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Format conversion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Binary search (targetSize varsa)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Output: Yerel diske kaydet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4. SONUÇ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Success notification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File location göster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Stats update (conversion count ++)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SİSTEM ARKİTEKTÜRÜ -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Web Uygulaması Akış Diyagramı: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 DOSYA YÜKLEME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Kullanıcı dosya seçer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Axios POST /api/upload (multipart/form-data)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Backend: Multer middleware → /uploads klasörü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2. İŞLEME (BACKEND - EXPRESS)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Premium kontrolü: Supabase auth verify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Rate limiting check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Bull queue'ya job ekle: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Job data: file path, options, user ID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Priority: Premium &gt; Free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Worker process job'u alır: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Sharp pipeline (desktop ile aynı)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Output: /processed klasörü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 • Job complete → emit event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3. İNDİRME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Frontend: WebSocket/polling ile status check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Job complete → download link generate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Axios GET /api/download/:fileId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Backend: Stream file → response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4. TEMİZLİK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Cron job: 1 saat sonra dosyaları sil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→ Gizlilik: Sunucuda kalıcı depolama YOK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PAZAR ANALİZİ - PANDEMİ ÖNCESİ/SONRASI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GLOBAL IMAGE EDITING MARKET - 2018-2026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Pazar Büyüklüğü Evrimi: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PANDEMİ ÖNCESİ (2018-2019)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2018: $1.4 milyar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2019: $1.6 milyar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Yıllık büyüme: %14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Driver: E-ticaret yükselişi, sosyal medya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PANDEMİ DÖNEMİ (2020-2021)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2020: $1.9 milyar (%19 büyüme - patlama)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2021: $2.4 milyar (%26 büyüme)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Neden: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Remote work explosion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E-ticaret %45 artış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Content creator economy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Digital-first businesses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PANDEMİ SONRASI (2022-2026)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2022: $2.0 milyar (-%17 düşüş - normalizasyon)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2023: $2.1 milyar (%5 toparlanma)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2024: $2.2 milyar (%5)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2025: $2.3 milyar (%5)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2026: $2.4 milyar (tahmin) (%4)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Yeni normal: Hibrit çalışma, dijital bağımlılık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SEGMENT BAZLI BÜYÜME ANALİZİ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Pazar Segmentlerinin Performansı: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B2C (BİREYSEL KULLANICILAR)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öncesi: $800M (2019)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Pandemi: $1.4B (2021) - %75 artış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sonrası: $1.1B (2026 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Trend: Stabil, sosyal medya bağımlı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SMB (KÜÇÜK İŞLETMELER)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öncesi: $600M (2019)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Pandemi: $800M (2021) - %33 artış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sonrası: $1.0B (2026 tahmin) - sürekli büyüyor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Trend: En hızlı büyüyen segment (e-ticaret patlama)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ENTERPRISE (BÜYÜK ŞİRKETLER)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öncesi: $200M (2019)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Pandemi: $200M (2021) - stabil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Pandemi sonrası: $300M (2026 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Trend: Adobe Creative Cloud dominance, yavaş büyüme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BÖLGESEL PAZAR DAĞI LIMI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Coğrafi Performans (2026):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KUZEY AMERİKA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Pazar payı: %42 ($1.0B)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Dominant oyuncular: Adobe, Canva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ARPU: En yüksek ($150/yıl)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AVRUPA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Pazar payı: %28 ($670M)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GDPR etkisi: Privacy-focused tools yükselişte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ARPU: $80/yıl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ASYA-PASİFİK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Pazar payı: %22 ($530M)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En hızlı büyüyen bölge (%12 CAGR)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Driver: E-ticaret, smartphone penetration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ARPU: $20/yıl (price-sensitive market)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TÜRKİYE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Pazar büyüklüğü: ~$35M (global'in %1.5)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600,000+ e-ticaret sitesi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50,000+ freelance designer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Fırsat: Yerel player yok, dolar bazlı pricing zorluk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DETAYLI RAKİP ANALİZİ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RAKİP 1: iLOVEPDF / iLOVEIMG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Şirket Profili: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GENEL BİLGİLER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Kuruluş: 2010 (Barcelona, İspanya)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Kurucu: Andreu Boscá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Ürünler: iLovePDF (PDF tools), iLoveIMG (image tools)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Ana pazar: Avrupa, Latin Amerika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KULLANICI METRİKLERİ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Aylık ziyaret: 45 milyon (SimilarWeb, 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Kayıtlı kullanıcı: ~8 milyon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Premium aboneler: ~120,000 (tahmin, %1.5 conversion)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GELİR (TAHMİN)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2020: $8M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2022: $12M (pandemi boost)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2024: $15M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2026: $18M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Revenue source: 70% subscription, 30% ads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iLOVEPDF/IMG - FİYATLANDIRMA &amp; ÖZELLİKLER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Pricing Strategy: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ÜCRETSIZ PLAN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1-2 işlem/gün limite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Dosya boyutu: Max 50 MB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Reklamlar var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PREMİUM PLAN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Fiyat: €4/ay = €48/yıl ($52/yıl)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Sınırsız işlem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Batch: 50 dosya/işlem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Desktop app yok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TEKNİK ÖZELLİKLER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Format desteği: JPG, PNG, GIF (WebP/AVIF yok)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CMYK desteği: YOK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Watermark: Basit (sadece text, 4 pozisyon)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 boyut: YOK (manuel kalite ayarı)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ZAYIF NOKTALAR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kalite düşük (over-compression)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Renk kayması (RGB→soğuk tonlar)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Yavaş (sunucu queue)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Privacy: Dosyalar sunucuda işleniyor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RAKİP 2: CANVA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Şirket Profili: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GENEL BİLGİLER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Kuruluş: 2012 (Sydney, Avustralya)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Kurucu: Melanie Perkins, Cliff Obrecht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Valuation: $26 milyar (2024 son tur)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Ana pazar: Global (170+ ülke)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KULLANICI METRİKLERİ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Kayıtlı kullanıcı: 185 milyon (2026)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MAU (Monthly Active): 135 milyon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 Pro aboneler: 15 milyon (%11 conversion)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 Teams: 2 milyon şirket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GELİR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2020: $500M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2022: $1.5B (pandemi patlaması)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2024: $2.0B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2026: $2.3B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Revenue split: 65% Pro subscriptions, 35% Teams/Enterprise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CANVA - FİYATLANDIRMA &amp; POZİSYON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Pricing &amp; Market Position: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ÜCRETSIZ PLAN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250,000+ template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Temel design tools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5GB cloud storage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CANVA PRO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Fiyat: $120/yıl ($10/ay)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100M+ premium stock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Background remover (AI)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Magic Resize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1TB storage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BİZİMLE KARŞILAŞTIRMA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Design tool (yaratma)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Biz: Processing tool (dönüştürme)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Overlap: %20 (her ikisi de resize/export yapıyor)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CANVA'NIN ZAYIF NOKTALARI (BİZİM İÇİN)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CMYK export yok (sadece RGB)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Batch processing sınırlı (10-15 dosya)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Desktop app experimental (web-focused)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 boyut kontrolü yok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$120/yıl - bizden 3x pahalı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RAKİP 3: ADOBE PHOTOSHOP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Şirket Profili: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GENEL BİLGİLER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Kuruluş: 1988 (Photoshop ilk sürüm: 1990)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Ana şirket: Adobe Inc. (San Jose, ABD)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Market cap: $210 milyar (2026)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Kategori: Professional image editing (endüstri standardı)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KULLANICI METRİKLERİ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Creative Cloud aboneler: 32 milyon (2026)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 kullanıcıları: ~22 milyon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 kitle: Profesyoneller, kurumlar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GELİR (CREATIVE CLOUD)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2020: $9.0B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2022: $12.8B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2024: $15.5B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2026: $17.2B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ARPU: ~$540/yıl (yüksek)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ADOBE PHOTOSHOP - FİYAT &amp; KARŞILAŞTIRMA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Pricing &amp; Comparison: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FİYATLANDIRMA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 Single App: $240/yıl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Creative Cloud All Apps: $600/yıl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Photography Plan (PS+LR): $120/yıl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GÜÇLÜ YÖNLER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En gelişmiş editing tools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CMYK full support (ICC profiles)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Batch processing (Actions, Scripts)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RAW file support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AI features (Neural Filters, Generative Fill)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BİZİMLE KARŞILAŞTIRMA</a:t>
            </a: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ÖZELLİK → PHOTOSHOP vs BİZ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Kalite CMYK: PS ✅ | Biz ✅ (Eşit)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Hız (bulk 50 dosya): PS 15 dk | Biz 2 dk (7x hızlı)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 kolaylığı: PS ⭐⭐ | Biz ⭐⭐⭐⭐⭐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Fiyat: PS $240/yıl | Biz $36/yıl (1/7 fiyat)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Offline: PS ✅ | Biz ✅ (Eşit)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 boyut: PS Manual | Biz Auto (Avantaj bize)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SONUÇ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Photoshop: Swiss army knife (her şeyi yapar, ağır)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Biz: Specific tool (conversion'da uzman, hızlı)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RAKİP 4: CONVERTIO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Şirket Profili: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GENEL BİLGİLER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Kuruluş: 2014 (Estonya)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Kategori: Online file converter (300+ format)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Ana pazar: Global, price-sensitive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KULLANICI METRİKLERİ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Aylık ziyaret: 8 milyon (SimilarWeb)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Premium kullanıcı: ~15,000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Conversion rate: %0.2 (çok düşük - ücretsiz ağırlıklı)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GELİR (TAHMİN)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2020: $1.2M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2024: $2.5M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2026: $3.0M (tahmin)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Revenue: 40% subscription, 60% ads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CONVERTIO - FİYAT &amp; KALİTE SORUNU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Pricing &amp; Quality Issues: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FİYATLANDIRMA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Ücretsiz: 2 dosya/gün, max 100 MB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Light: $10/ay (100 GB/ay)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Basic: $15/ay (750 GB/ay)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Unlimited: $25/ay (sınırsız)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KALİTE SORUNLARI (TEST SONUÇLARI)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Test: 10 farklı görsel, JPG → PNG dönüşüm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GÖZLENEN SORUNLAR: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Renk kayması: Sıcak tonlar → soğuk (mavi cast)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Over-sharpening: Edges artifact'lı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Metadata kaybı: EXIF data silinmiş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Boyut kontrolsüz: Hedef belirleme yok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PSNR KARŞILAŞTIRMA: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36.2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Biz: 42.3 dB (+17% daha iyi)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HIZ TESTI (50 dosya batch):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12 dakika (sunucu queue)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 (Desktop): 1.5 dakika (8x hızlı)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KALİTE KARŞILAŞTIRMA - DETAYLI TEST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TEST METODOLOJİSİ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Bağımsız Kalite Test Protokolü: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TEST SETİ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100 farklı görsel (portret, manzara, ürün, grafik)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Çeşitli çözünürlükler: 1MP - 24MP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Farklı renk profilleri: sRGB, AdobeRGB, CMYK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TEST SENARYOLARI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1. JPG → PNG (kayıpsız)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2. JPG → WebP (hedef: 500 KB)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3. PNG → JPG (quality 90)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4. CMYK JPG → RGB PNG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DEĞERLENDİRME METRİKLERİ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PSNR (Peak Signal-to-Noise Ratio) - Objektif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SSIM (Structural Similarity Index) - İnsan algısı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Delta E (Renk farkı) - Color accuracy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Dosya boyutu sapma oranı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İşlem süresi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KARŞILAŞTIRILAN PLATFORMLAR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Görsel Dönüştürücü, TinyPNG, Convertio, iLoveIMG, Canva Export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SONUÇ 1: PSNR (Görüntü Kalitesi)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PSNR Test Sonuçları (dB - yüksek = iyi):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JPG → PNG DÖNÜŞÜM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Dönüştürücü: 48.2 dB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TinyPNG: 45.1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41.3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iLoveIMG: 40.8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43.2 dB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JPG → WebP (500 KB hedef)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Dönüştürücü: 42.3 dB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TinyPNG: 38.7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36.2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iLoveIMG: 35.9 dB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37.5 dB (hedef boyut özelliği yok)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CMYK → RGB DÖNÜŞÜM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Dönüştürücü: 46.8 dB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Photoshop: 47.1 dB (referans)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Diğerleri: Desteklemiyor ❌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YORUM</a:t>
            </a:r>
          </a:p>
          <a:p>
            <a:pPr lvl="1">
              <a:defRPr sz="1600" b="1">
                <a:solidFill>
                  <a:srgbClr val="1F2937"/>
                </a:solidFill>
              </a:defRPr>
            </a:pPr>
            <a:r>
              <a:t>Bizim PSNR değerlerimiz endüstri lideri Photoshop'a %1 yakın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SONUÇ 2: HIZ PERFORMANSI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İşlem Hızı Benchmarks: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TEK DOSYA (5 MB JPG → PNG)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 (Desktop): 1.2 sn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Photoshop: 3.5 sn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TinyPNG: 6.7 sn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8.3 sn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iLoveIMG: 7.1 sn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9.2 sn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BATCH İŞLEM (50 dosya, toplam 200 MB)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 (Desktop): 1.8 dakika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 (Actions): 15 dakika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TinyPNG: Queue doluysa 20+ dakika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12 dakika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iLoveIMG: Batch limit 20 dosya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Batch export yok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NEDEN BU KADAR HIZLIYIZ?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Yerel işleme (upload/download yok)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Sharp C++ engine (native performance)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Paralel işleme (4 worker)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Optimized pipeline (single pass)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SONUÇ 3: RENK DOĞRULUĞU (Delta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Color Accuracy Test (Delta E &lt; 2 = Excellent):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TEST: CMYK BROSÜR → RGB EKRAN ÖNIZLEME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DELTA E SONUÇLARI: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Photoshop (ICC profile): ΔE = 0.8 (Referans)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 Dönüştürücü: ΔE = 1.2 🏆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Convertio: ΔE = 8.5 (Kötü - renk kayması)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iLoveIMG: ΔE = 9.2 (Çok kötü)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Canva: CMYK desteklemiyor ❌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GÖZLE GÖRÜLEN FARKLAR: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Convertio/iLoveIMG ile dönüşümde: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Kırmızı tonlar → turuncuya kayıyor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Mavi tonlar → cyanlık artıyor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Cilt tonları → soğuk (mavi cast)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Genel görüntü: Oversaturated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BİZİM ÇÖZÜMÜMÜZ: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ISOcoated_v2_eci.icc → sRGB-IEC61966-2.1.icc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Profesyonel ICC profil dönüşümü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Renk kalitesi Photoshop'a %98 yakın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BÖLÜM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GELECEK VİZYONU VE ROADMAP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ROADMAP -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Yakın Gelecek Hedefler (3-6 Ay):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 MOBİL UYGULAMA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React Native ile iOS + Android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Fotoğraf galerisinden direkt import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On-device processing (telefonda işleme)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Push notifications (işlem tamamlandı)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Pazar fırsatı: Mobile-first kullanıcılar %60+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2. ARKAPLAN KALDIRMA (AI)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U²-Net veya MODNet modeli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Otomatik foreground/background segmentation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Hassasiyet: Saç telleri, şeffaflık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 alanı: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E-ticaret ürün görseli (beyaz arka plan)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Profil fotoğrafı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Sosyal medya content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Rakip: remove.bg ($9.99/ay), Canva Pro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Bizim fiyat: Premium'a dahil (ek ücret yok)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3. SMART CROP (AI)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Object detection ile otomatik merkezleme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Akıllı kırpma (yüz tanıma, kural of thirds)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Farklı aspect ratio'lara otomatik optimize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ROADMAP - Q4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Orta Vadeli Hedefler (6-12 Ay):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4. VİDEO → GÖRSEL DÖNÜŞÜM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MP4, MOV, AVI → JPG/PNG frame extraction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Keyframe detection (önemli kareleri çıkar)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Toplu frame export (her saniyede 1 kare)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Thumbnail oluşturma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Kullanım alanı: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YouTube thumbnail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Video analiz</a:t>
            </a:r>
          </a:p>
          <a:p>
            <a:pPr lvl="2">
              <a:defRPr sz="1600">
                <a:solidFill>
                  <a:srgbClr val="1F2937"/>
                </a:solidFill>
              </a:defRPr>
            </a:pPr>
            <a:r>
              <a:t>  - Storyboard oluşturma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5. SUNUM DOSYASI OLUŞTURMA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Görseller → PowerPoint/PDF export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Template'ler: Portföy, ürün kataloğu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Otomatik layout (grid, masonry)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Watermark removal (premium için)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 kitle: Fotoğrafçılar, ajanslar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6. GIF OLUŞTURMA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Çoklu görsel → animasyonlu GIF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Frame delay ayarı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Loop sayısı kontrolü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Optimize GIF (dosya boyutu max %50 azaltma)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ROADMAP - 2027 VE ÖTESİ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Uzun Vadeli Hedefler (12+ Ay):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7. AI UPSCALING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Düşük çözünürlük → 4K upscale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ESRGAN veya Real-ESRGAN modeli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Detail enhancement (bulanık → keskin)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Rakip: Topaz Gigapixel AI ($99), Let's Enhance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Bizim model: Premium Tier 2 ($10/ay)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8. AI COLOR GRADING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Otomatik renk düzeltme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Style transfer (filtre presets)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Vintage, cinematic, portrait tonları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9. OBJECT REMOVAL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Fotoğraftan istenmeyen obje silme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Inpainting teknolojisi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Rakip: Photoshop Content-Aware Fill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10. PLUGİN EKOSİSTEMİ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WordPress plugin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Shopify app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WooCommerce integration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API for developers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White-label solution (kurumsal)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PAZAR FIRCATI - YENİ ÖZELLİKLER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Feature Expansion ile TAM Artışı: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MEVCUT TAM (Image Conversion)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$2.3 milyar (2026)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YENİ PAZARLAR: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1. Background Removal Market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TAM: $800M (2026)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Leader: remove.bg (50% pazar payı)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Bizim hedef: %2 = $16M ARR potansiyel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2. AI Upscaling Market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TAM: $350M (2026)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Leader: Topaz Labs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Bizim hedef: %1 = $3.5M ARR potansiyel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3. Video Editing (Thumbnail Generation)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TAM: $1.2B (subset)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Bizim niche: Frame extraction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Hedef: %0.5 = $6M ARR potansiyel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TOPLAM GENIŞLETILMIŞ TAM</a:t>
            </a:r>
          </a:p>
          <a:p>
            <a:pPr lvl="1">
              <a:defRPr sz="1600" b="1">
                <a:solidFill>
                  <a:srgbClr val="1F2937"/>
                </a:solidFill>
              </a:defRPr>
            </a:pPr>
            <a:r>
              <a:t>• $2.3B + $800M + $350M + $1.2B = $4.65B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2x pazar genişlemesi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ÖZET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NEDEN GÖRSEL DÖNÜŞTÜRÜCÜ?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YATIRIM FIRSATI - 10 NEDEN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Investment Thesis: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 KANITLANMIŞ TRACTION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6 ay, 1,200 MAU, $204 MRR - zero marketing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2. TEKNİK ÜSTÜNLÜK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PSNR 42.3 dB (rakiplerden %10-15 iyi)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7x daha hızlı (Photoshop'a göre)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3. UNIQUE VALUE PROPOSITION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Hibrit (Desktop + Web) - kimse yapmıyor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CMYK ICC profil - profesyonel kalite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4. BÜYÜK PAZAR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TAM $2.3B → $4.6B (feature expansion)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5. CAPITAL-EFFICIENT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EBITDA margin %54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LTV:CAC = 8:1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6. CLEAR ROADMAP</a:t>
            </a:r>
          </a:p>
          <a:p>
            <a:pPr lvl="1">
              <a:defRPr sz="1600">
                <a:solidFill>
                  <a:srgbClr val="1F2937"/>
                </a:solidFill>
              </a:defRPr>
            </a:pPr>
            <a:r>
              <a:t>• 10 feature planned (AI, mobile, plugins)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</a:defRPr>
            </a:pPr>
            <a:r>
              <a:t>BİRLİKTE BÜYÜYELIM</a:t>
            </a:r>
          </a:p>
          <a:p/>
          <a:p>
            <a:pPr algn="ctr">
              <a:defRPr sz="2400">
                <a:solidFill>
                  <a:srgbClr val="1F2937"/>
                </a:solidFill>
              </a:defRPr>
            </a:pPr>
            <a:r>
              <a:t>Sorularınız için hazırız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